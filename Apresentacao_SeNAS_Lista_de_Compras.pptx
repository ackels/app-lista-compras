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329822dc0f1cbba7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h329822dc0f1cbba7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5440680"/>
            <a:ext cx="12191700" cy="1417200"/>
          </a:xfrm>
          <a:prstGeom prst="rect">
            <a:avLst/>
          </a:prstGeom>
          <a:solidFill>
            <a:srgbClr val="4C124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57a9ece0-5214-47a4-b4b1-f2573bd470d6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66928"/>
            <a:ext cx="18288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31520" y="1828800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SeNAS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13232" y="2240280"/>
            <a:ext cx="106071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Lista de Compras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49808" y="3154680"/>
            <a:ext cx="9601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Aplicação web para gerenciamento de itens, categorias e controle de compras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31520" y="5650992"/>
            <a:ext cx="14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ABED3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Silvio da Col de Brito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514600" y="5650992"/>
            <a:ext cx="40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ABED3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Bruno Prates Borges  •  </a:t>
            </a:r>
            <a:r>
              <a:rPr lang="en-US" sz="1100">
                <a:solidFill>
                  <a:srgbClr val="FFFFFF"/>
                </a:solidFill>
              </a:rPr>
              <a:t>Jhonata Caetano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858000" y="5650992"/>
            <a:ext cx="2560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ABED3"/>
                </a:solidFill>
                <a:latin typeface="Arial"/>
                <a:ea typeface="Arial"/>
                <a:cs typeface="Arial"/>
                <a:sym typeface="Arial"/>
              </a:rPr>
              <a:t>ORIENTADOR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Kesede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9625938" y="5820091"/>
            <a:ext cx="11430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rPr>
              <a:t>LTD</a:t>
            </a:r>
            <a:endParaRPr/>
          </a:p>
        </p:txBody>
      </p:sp>
      <p:pic>
        <p:nvPicPr>
          <p:cNvPr descr="57a9ece0-5214-47a4-b4b1-f2573bd470d6.png" id="95" name="Google Shape;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6543" y="5823582"/>
            <a:ext cx="868680" cy="6515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94360" y="632764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PROBLEMA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94360" y="749808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Problema: a dor do cliente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O projeto parte da necessidade de organizar uma lista de compras de forma simples e prática.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40080" y="1874519"/>
            <a:ext cx="3429000" cy="3063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04671" y="2057400"/>
            <a:ext cx="475488" cy="475488"/>
          </a:xfrm>
          <a:prstGeom prst="ellipse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04671" y="2103120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89888" y="2039112"/>
            <a:ext cx="24963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rPr>
              <a:t>Organização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8680" y="2532887"/>
            <a:ext cx="2971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Itens precisam ser cadastrados e visualizados de forma estruturada, com separação por categoria.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4370832" y="1874519"/>
            <a:ext cx="3429000" cy="3063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4535424" y="2057400"/>
            <a:ext cx="475488" cy="475488"/>
          </a:xfrm>
          <a:prstGeom prst="ellipse">
            <a:avLst/>
          </a:prstGeom>
          <a:solidFill>
            <a:srgbClr val="F34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4535424" y="2103120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120640" y="2039112"/>
            <a:ext cx="24963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Acompanhamento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99432" y="2532887"/>
            <a:ext cx="2971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O usuário precisa identificar rapidamente o que já foi comprado e ajustar quantidades.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101583" y="1874519"/>
            <a:ext cx="3429000" cy="3063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8266175" y="2057400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266175" y="2103120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851392" y="2039112"/>
            <a:ext cx="24963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7D32"/>
                </a:solidFill>
                <a:latin typeface="Play"/>
                <a:ea typeface="Play"/>
                <a:cs typeface="Play"/>
                <a:sym typeface="Play"/>
              </a:rPr>
              <a:t>Controle de gastos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330183" y="2532887"/>
            <a:ext cx="2971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Cada item possui preço e quantidade, permitindo calcular o total da compra.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85800" y="5230368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Base do projeto: interface de lista, categorias, preço, quantidade, status de compra e total calculado.</a:t>
            </a:r>
            <a:endParaRPr/>
          </a:p>
        </p:txBody>
      </p:sp>
      <p:pic>
        <p:nvPicPr>
          <p:cNvPr descr="57a9ece0-5214-47a4-b4b1-f2573bd470d6.png" id="122" name="Google Shape;1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6768" y="6199632"/>
            <a:ext cx="868680" cy="65151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594360" y="632764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94360" y="320040"/>
            <a:ext cx="777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ESCOPO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94360" y="749808"/>
            <a:ext cx="1069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Escopo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12648" y="1353312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O que será feito para resolver a dor do cliente</a:t>
            </a:r>
            <a:endParaRPr/>
          </a:p>
        </p:txBody>
      </p:sp>
      <p:grpSp>
        <p:nvGrpSpPr>
          <p:cNvPr id="133" name="Google Shape;133;p15"/>
          <p:cNvGrpSpPr/>
          <p:nvPr/>
        </p:nvGrpSpPr>
        <p:grpSpPr>
          <a:xfrm>
            <a:off x="685800" y="1866900"/>
            <a:ext cx="3333900" cy="1476300"/>
            <a:chOff x="0" y="0"/>
            <a:chExt cx="3333900" cy="1476300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3333900" cy="1476300"/>
            </a:xfrm>
            <a:prstGeom prst="roundRect">
              <a:avLst>
                <a:gd fmla="val 10322" name="adj"/>
              </a:avLst>
            </a:prstGeom>
            <a:solidFill>
              <a:srgbClr val="FFFFFF"/>
            </a:solidFill>
            <a:ln cap="flat" cmpd="sng" w="9525">
              <a:solidFill>
                <a:srgbClr val="E0DE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7E18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17145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647700" y="190500"/>
              <a:ext cx="24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7E1866"/>
                  </a:solidFill>
                  <a:latin typeface="Play"/>
                  <a:ea typeface="Play"/>
                  <a:cs typeface="Play"/>
                  <a:sym typeface="Play"/>
                </a:rPr>
                <a:t>Cadastrar Itens</a:t>
              </a:r>
              <a:endParaRPr b="1" sz="1400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8" name="Google Shape;138;p15"/>
            <p:cNvSpPr txBox="1"/>
            <p:nvPr/>
          </p:nvSpPr>
          <p:spPr>
            <a:xfrm>
              <a:off x="190500" y="64770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328"/>
                  </a:solidFill>
                  <a:latin typeface="Arial"/>
                  <a:ea typeface="Arial"/>
                  <a:cs typeface="Arial"/>
                  <a:sym typeface="Arial"/>
                </a:rPr>
                <a:t>Cadastrar itens informando nome, categoria e preço.</a:t>
              </a:r>
              <a:endParaRPr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15"/>
          <p:cNvGrpSpPr/>
          <p:nvPr/>
        </p:nvGrpSpPr>
        <p:grpSpPr>
          <a:xfrm>
            <a:off x="4248150" y="1866900"/>
            <a:ext cx="3333900" cy="1476300"/>
            <a:chOff x="0" y="0"/>
            <a:chExt cx="3333900" cy="1476300"/>
          </a:xfrm>
        </p:grpSpPr>
        <p:sp>
          <p:nvSpPr>
            <p:cNvPr id="140" name="Google Shape;140;p15"/>
            <p:cNvSpPr/>
            <p:nvPr/>
          </p:nvSpPr>
          <p:spPr>
            <a:xfrm>
              <a:off x="0" y="0"/>
              <a:ext cx="3333900" cy="1476300"/>
            </a:xfrm>
            <a:prstGeom prst="roundRect">
              <a:avLst>
                <a:gd fmla="val 10322" name="adj"/>
              </a:avLst>
            </a:prstGeom>
            <a:solidFill>
              <a:srgbClr val="FFFFFF"/>
            </a:solidFill>
            <a:ln cap="flat" cmpd="sng" w="9525">
              <a:solidFill>
                <a:srgbClr val="E0DE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F34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 txBox="1"/>
            <p:nvPr/>
          </p:nvSpPr>
          <p:spPr>
            <a:xfrm>
              <a:off x="17145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647700" y="190500"/>
              <a:ext cx="24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4827"/>
                  </a:solidFill>
                  <a:latin typeface="Play"/>
                  <a:ea typeface="Play"/>
                  <a:cs typeface="Play"/>
                  <a:sym typeface="Play"/>
                </a:rPr>
                <a:t>Listar por Categoria</a:t>
              </a:r>
              <a:endParaRPr b="1" sz="14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190500" y="64770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328"/>
                  </a:solidFill>
                  <a:latin typeface="Arial"/>
                  <a:ea typeface="Arial"/>
                  <a:cs typeface="Arial"/>
                  <a:sym typeface="Arial"/>
                </a:rPr>
                <a:t>Listar os itens organizados e agrupados por categoria.</a:t>
              </a:r>
              <a:endParaRPr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57a9ece0-5214-47a4-b4b1-f2573bd470d6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6768" y="6199632"/>
            <a:ext cx="868680" cy="6515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5"/>
          <p:cNvGrpSpPr/>
          <p:nvPr/>
        </p:nvGrpSpPr>
        <p:grpSpPr>
          <a:xfrm>
            <a:off x="7810500" y="1866900"/>
            <a:ext cx="3333900" cy="1476300"/>
            <a:chOff x="0" y="0"/>
            <a:chExt cx="3333900" cy="1476300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3333900" cy="1476300"/>
            </a:xfrm>
            <a:prstGeom prst="roundRect">
              <a:avLst>
                <a:gd fmla="val 10322" name="adj"/>
              </a:avLst>
            </a:prstGeom>
            <a:solidFill>
              <a:srgbClr val="FFFFFF"/>
            </a:solidFill>
            <a:ln cap="flat" cmpd="sng" w="9525">
              <a:solidFill>
                <a:srgbClr val="E0DE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17145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5"/>
            <p:cNvSpPr txBox="1"/>
            <p:nvPr/>
          </p:nvSpPr>
          <p:spPr>
            <a:xfrm>
              <a:off x="647700" y="190500"/>
              <a:ext cx="24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7D32"/>
                  </a:solidFill>
                  <a:latin typeface="Play"/>
                  <a:ea typeface="Play"/>
                  <a:cs typeface="Play"/>
                  <a:sym typeface="Play"/>
                </a:rPr>
                <a:t>Status de Compras</a:t>
              </a:r>
              <a:endParaRPr b="1" sz="1400">
                <a:solidFill>
                  <a:srgbClr val="2E7D32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1" name="Google Shape;151;p15"/>
            <p:cNvSpPr txBox="1"/>
            <p:nvPr/>
          </p:nvSpPr>
          <p:spPr>
            <a:xfrm>
              <a:off x="190500" y="64770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328"/>
                  </a:solidFill>
                  <a:latin typeface="Arial"/>
                  <a:ea typeface="Arial"/>
                  <a:cs typeface="Arial"/>
                  <a:sym typeface="Arial"/>
                </a:rPr>
                <a:t>Marcar itens como comprados e visualizar o status.</a:t>
              </a:r>
              <a:endParaRPr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15"/>
          <p:cNvSpPr txBox="1"/>
          <p:nvPr/>
        </p:nvSpPr>
        <p:spPr>
          <a:xfrm>
            <a:off x="594360" y="6327648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grpSp>
        <p:nvGrpSpPr>
          <p:cNvPr id="153" name="Google Shape;153;p15"/>
          <p:cNvGrpSpPr/>
          <p:nvPr/>
        </p:nvGrpSpPr>
        <p:grpSpPr>
          <a:xfrm>
            <a:off x="685800" y="3581400"/>
            <a:ext cx="3333900" cy="1476300"/>
            <a:chOff x="0" y="0"/>
            <a:chExt cx="3333900" cy="1476300"/>
          </a:xfrm>
        </p:grpSpPr>
        <p:sp>
          <p:nvSpPr>
            <p:cNvPr id="154" name="Google Shape;154;p15"/>
            <p:cNvSpPr/>
            <p:nvPr/>
          </p:nvSpPr>
          <p:spPr>
            <a:xfrm>
              <a:off x="0" y="0"/>
              <a:ext cx="3333900" cy="1476300"/>
            </a:xfrm>
            <a:prstGeom prst="roundRect">
              <a:avLst>
                <a:gd fmla="val 10322" name="adj"/>
              </a:avLst>
            </a:prstGeom>
            <a:solidFill>
              <a:srgbClr val="FFFFFF"/>
            </a:solidFill>
            <a:ln cap="flat" cmpd="sng" w="9525">
              <a:solidFill>
                <a:srgbClr val="E0DE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7E18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17145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647700" y="190500"/>
              <a:ext cx="24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7E1866"/>
                  </a:solidFill>
                  <a:latin typeface="Play"/>
                  <a:ea typeface="Play"/>
                  <a:cs typeface="Play"/>
                  <a:sym typeface="Play"/>
                </a:rPr>
                <a:t>Ajustar Quantidades</a:t>
              </a:r>
              <a:endParaRPr b="1" sz="1400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190500" y="64770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328"/>
                  </a:solidFill>
                  <a:latin typeface="Arial"/>
                  <a:ea typeface="Arial"/>
                  <a:cs typeface="Arial"/>
                  <a:sym typeface="Arial"/>
                </a:rPr>
                <a:t>Ajustar facilmente a quantidade de cada item (+ / −).</a:t>
              </a:r>
              <a:endParaRPr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4248150" y="3581400"/>
            <a:ext cx="3333900" cy="1476300"/>
            <a:chOff x="0" y="0"/>
            <a:chExt cx="3333900" cy="1476300"/>
          </a:xfrm>
        </p:grpSpPr>
        <p:sp>
          <p:nvSpPr>
            <p:cNvPr id="160" name="Google Shape;160;p15"/>
            <p:cNvSpPr/>
            <p:nvPr/>
          </p:nvSpPr>
          <p:spPr>
            <a:xfrm>
              <a:off x="0" y="0"/>
              <a:ext cx="3333900" cy="1476300"/>
            </a:xfrm>
            <a:prstGeom prst="roundRect">
              <a:avLst>
                <a:gd fmla="val 10322" name="adj"/>
              </a:avLst>
            </a:prstGeom>
            <a:solidFill>
              <a:srgbClr val="FFFFFF"/>
            </a:solidFill>
            <a:ln cap="flat" cmpd="sng" w="9525">
              <a:solidFill>
                <a:srgbClr val="E0DE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F34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 txBox="1"/>
            <p:nvPr/>
          </p:nvSpPr>
          <p:spPr>
            <a:xfrm>
              <a:off x="17145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647700" y="190500"/>
              <a:ext cx="24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4827"/>
                  </a:solidFill>
                  <a:latin typeface="Play"/>
                  <a:ea typeface="Play"/>
                  <a:cs typeface="Play"/>
                  <a:sym typeface="Play"/>
                </a:rPr>
                <a:t>Excluir e Limpar</a:t>
              </a:r>
              <a:endParaRPr b="1" sz="14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190500" y="64770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328"/>
                  </a:solidFill>
                  <a:latin typeface="Arial"/>
                  <a:ea typeface="Arial"/>
                  <a:cs typeface="Arial"/>
                  <a:sym typeface="Arial"/>
                </a:rPr>
                <a:t>Excluir itens e limpar rapidamente os itens já comprados.</a:t>
              </a:r>
              <a:endParaRPr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15"/>
          <p:cNvGrpSpPr/>
          <p:nvPr/>
        </p:nvGrpSpPr>
        <p:grpSpPr>
          <a:xfrm>
            <a:off x="7810500" y="3581400"/>
            <a:ext cx="3333900" cy="1476300"/>
            <a:chOff x="0" y="0"/>
            <a:chExt cx="3333900" cy="1476300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3333900" cy="1476300"/>
            </a:xfrm>
            <a:prstGeom prst="roundRect">
              <a:avLst>
                <a:gd fmla="val 10322" name="adj"/>
              </a:avLst>
            </a:prstGeom>
            <a:solidFill>
              <a:srgbClr val="FFFFFF"/>
            </a:solidFill>
            <a:ln cap="flat" cmpd="sng" w="9525">
              <a:solidFill>
                <a:srgbClr val="E0DE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 txBox="1"/>
            <p:nvPr/>
          </p:nvSpPr>
          <p:spPr>
            <a:xfrm>
              <a:off x="17145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647700" y="190500"/>
              <a:ext cx="24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7D32"/>
                  </a:solidFill>
                  <a:latin typeface="Play"/>
                  <a:ea typeface="Play"/>
                  <a:cs typeface="Play"/>
                  <a:sym typeface="Play"/>
                </a:rPr>
                <a:t>Calcular Total</a:t>
              </a:r>
              <a:endParaRPr b="1" sz="1400">
                <a:solidFill>
                  <a:srgbClr val="2E7D32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190500" y="64770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328"/>
                  </a:solidFill>
                  <a:latin typeface="Arial"/>
                  <a:ea typeface="Arial"/>
                  <a:cs typeface="Arial"/>
                  <a:sym typeface="Arial"/>
                </a:rPr>
                <a:t>Calcular e exibir automaticamente o valor total da compra.</a:t>
              </a:r>
              <a:endParaRPr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REQUISITOS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594360" y="749808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Requisitos Funcionais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Funções observadas na implementação enviada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685800" y="1828800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822960" y="1984248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RF01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600200" y="192938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Cadastrar item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1600200" y="221284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Nome + categoria + preço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6144768" y="1828800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281928" y="1984248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F34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RF02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7059168" y="192938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Consultar categorias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7059168" y="221284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Carregar categorias via API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685800" y="2816352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822960" y="2971800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RF03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600200" y="291693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Listar itens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600200" y="32004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Exibir itens agrupados por categoria</a:t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6144768" y="2816352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281928" y="2971800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F34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RF04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7059168" y="291693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Alterar quantidade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7059168" y="32004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Aumentar ou diminuir quantidade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685800" y="3803904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822960" y="3959352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RF05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600200" y="39044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Marcar como comprado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1600200" y="418795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Alternar status do item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6144768" y="3803904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6281928" y="3959352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F34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RF06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7059168" y="39044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Excluir item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7059168" y="418795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Remover item da lista</a:t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685800" y="4791456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822960" y="4946904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RF07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600200" y="48920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Limpar comprados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1600200" y="517550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Excluir itens já comprados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6144768" y="4791456"/>
            <a:ext cx="525780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6281928" y="4946904"/>
            <a:ext cx="621792" cy="475488"/>
          </a:xfrm>
          <a:prstGeom prst="roundRect">
            <a:avLst>
              <a:gd fmla="val 16667" name="adj"/>
            </a:avLst>
          </a:prstGeom>
          <a:solidFill>
            <a:srgbClr val="F34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RF08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7059168" y="48920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Calcular total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7059168" y="517550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Preço × quantidade dos comprados</a:t>
            </a:r>
            <a:endParaRPr/>
          </a:p>
        </p:txBody>
      </p:sp>
      <p:pic>
        <p:nvPicPr>
          <p:cNvPr descr="57a9ece0-5214-47a4-b4b1-f2573bd470d6.png" id="212" name="Google Shape;2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6768" y="6199632"/>
            <a:ext cx="868680" cy="65151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6"/>
          <p:cNvSpPr txBox="1"/>
          <p:nvPr/>
        </p:nvSpPr>
        <p:spPr>
          <a:xfrm>
            <a:off x="594360" y="632764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ARQUITETURA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594360" y="749808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Arquitetura do sistema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Arquitetura identificada no código fornecido</a:t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640080" y="2057400"/>
            <a:ext cx="30632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868680" y="2221992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rPr>
              <a:t>Frontend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868680" y="2715768"/>
            <a:ext cx="26060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HTML + CSS + JavaScript</a:t>
            </a: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Interface responsiva de lista de compras</a:t>
            </a: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Consome a API por HTTP/JSON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3913632" y="2907792"/>
            <a:ext cx="96012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4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7635240" y="2907792"/>
            <a:ext cx="96012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4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4617720" y="2057400"/>
            <a:ext cx="274320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846320" y="2221992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API / Backend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4846320" y="2715768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Base URL observada:</a:t>
            </a: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127.0.0.1:8000</a:t>
            </a: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Endpoints para categorias e itens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8366760" y="2057400"/>
            <a:ext cx="30632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E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8595360" y="2221992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7D32"/>
                </a:solidFill>
                <a:latin typeface="Play"/>
                <a:ea typeface="Play"/>
                <a:cs typeface="Play"/>
                <a:sym typeface="Play"/>
              </a:rPr>
              <a:t>Dados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8595360" y="2715768"/>
            <a:ext cx="26060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Categorias e itens</a:t>
            </a: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A implementação exibida consome os dados pela API; o mecanismo de persistência não está especificado no material enviado.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685800" y="489204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Exemplos de endpoints:  GET /categorias  •  GET /itens  •  POST /itens  •  PUT /itens/{id}  •  DELETE /itens/{id}</a:t>
            </a:r>
            <a:endParaRPr/>
          </a:p>
        </p:txBody>
      </p:sp>
      <p:pic>
        <p:nvPicPr>
          <p:cNvPr descr="57a9ece0-5214-47a4-b4b1-f2573bd470d6.png" id="235" name="Google Shape;2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6768" y="6199632"/>
            <a:ext cx="868680" cy="65151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7"/>
          <p:cNvSpPr txBox="1"/>
          <p:nvPr/>
        </p:nvSpPr>
        <p:spPr>
          <a:xfrm>
            <a:off x="594360" y="632764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594360" y="320040"/>
            <a:ext cx="777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DADOS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594360" y="749808"/>
            <a:ext cx="1069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Entidades principais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594348" y="1171587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Modelo conceitual inferido diretamente do uso dos objetos no frontend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594360" y="1524000"/>
            <a:ext cx="4953000" cy="4000500"/>
          </a:xfrm>
          <a:prstGeom prst="roundRect">
            <a:avLst>
              <a:gd fmla="val 3809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594360" y="1524000"/>
            <a:ext cx="4953000" cy="533400"/>
          </a:xfrm>
          <a:prstGeom prst="roundRect">
            <a:avLst>
              <a:gd fmla="val 28571" name="adj"/>
            </a:avLst>
          </a:prstGeom>
          <a:solidFill>
            <a:srgbClr val="7E18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594360" y="1809750"/>
            <a:ext cx="4953000" cy="247800"/>
          </a:xfrm>
          <a:prstGeom prst="rect">
            <a:avLst/>
          </a:prstGeom>
          <a:solidFill>
            <a:srgbClr val="7E18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822960" y="16383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Item</a:t>
            </a:r>
            <a:r>
              <a:rPr b="1" lang="en-US" sz="900">
                <a:solidFill>
                  <a:srgbClr val="7E1866"/>
                </a:solidFill>
                <a:highlight>
                  <a:srgbClr val="F3E8F2"/>
                </a:highlight>
                <a:latin typeface="Play"/>
                <a:ea typeface="Play"/>
                <a:cs typeface="Play"/>
                <a:sym typeface="Play"/>
              </a:rPr>
              <a:t>ENTIDADE</a:t>
            </a: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822960" y="2247900"/>
            <a:ext cx="44958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strike="noStrike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rPr>
              <a:t>Atributos</a:t>
            </a:r>
            <a:endParaRPr b="1" i="0" sz="950" u="none" strike="noStrike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1" i="0" lang="en-US" sz="110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id </a:t>
            </a:r>
            <a:r>
              <a:rPr b="0" i="0" lang="en-US" sz="950" u="none" strike="noStrike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(PK)</a:t>
            </a:r>
            <a:endParaRPr b="1" i="0" sz="950" u="none" strike="noStrike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0" i="0" lang="en-US" sz="110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1" i="0" sz="950" u="none" strike="noStrike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0" i="0" lang="en-US" sz="110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preço</a:t>
            </a:r>
            <a:endParaRPr b="1" i="0" sz="950" u="none" strike="noStrike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0" i="0" lang="en-US" sz="110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quantidade</a:t>
            </a:r>
            <a:endParaRPr b="1" i="0" sz="950" u="none" strike="noStrike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0" i="0" lang="en-US" sz="110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comprado</a:t>
            </a:r>
            <a:endParaRPr b="1" i="0" sz="950" u="none" strike="noStrike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1" i="0" lang="en-US" sz="115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1" i="0" lang="en-US" sz="1100" u="none" strike="noStrike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categoria </a:t>
            </a:r>
            <a:r>
              <a:rPr b="0" i="0" lang="en-US" sz="950" u="none" strike="noStrike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(FK)</a:t>
            </a:r>
            <a:endParaRPr b="1" i="0" sz="950" u="none" strike="noStrike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784860" y="4533900"/>
            <a:ext cx="4572000" cy="800100"/>
          </a:xfrm>
          <a:prstGeom prst="roundRect">
            <a:avLst>
              <a:gd fmla="val 11904" name="adj"/>
            </a:avLst>
          </a:prstGeom>
          <a:solidFill>
            <a:srgbClr val="F8F9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937260" y="4667250"/>
            <a:ext cx="4267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Relaciona-se a uma categoria por </a:t>
            </a:r>
            <a:r>
              <a:rPr b="1" lang="en-US" sz="1000">
                <a:solidFill>
                  <a:srgbClr val="7E1866"/>
                </a:solidFill>
                <a:latin typeface="Arial"/>
                <a:ea typeface="Arial"/>
                <a:cs typeface="Arial"/>
                <a:sym typeface="Arial"/>
              </a:rPr>
              <a:t>categoria_id</a:t>
            </a:r>
            <a:r>
              <a:rPr lang="en-US" sz="10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solidFill>
                <a:srgbClr val="666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6644640" y="1524000"/>
            <a:ext cx="4953000" cy="4000500"/>
          </a:xfrm>
          <a:prstGeom prst="roundRect">
            <a:avLst>
              <a:gd fmla="val 3809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57a9ece0-5214-47a4-b4b1-f2573bd470d6.png" id="254" name="Google Shape;2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6768" y="6199632"/>
            <a:ext cx="868680" cy="65151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/>
          <p:nvPr/>
        </p:nvSpPr>
        <p:spPr>
          <a:xfrm>
            <a:off x="6644640" y="1524000"/>
            <a:ext cx="4953000" cy="533400"/>
          </a:xfrm>
          <a:prstGeom prst="roundRect">
            <a:avLst>
              <a:gd fmla="val 28571" name="adj"/>
            </a:avLst>
          </a:prstGeom>
          <a:solidFill>
            <a:srgbClr val="F348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594360" y="6327648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6644640" y="1809750"/>
            <a:ext cx="4953000" cy="247800"/>
          </a:xfrm>
          <a:prstGeom prst="rect">
            <a:avLst/>
          </a:prstGeom>
          <a:solidFill>
            <a:srgbClr val="F348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6873240" y="16383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Categoria</a:t>
            </a:r>
            <a:r>
              <a:rPr b="1" lang="en-US" sz="9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ENTIDADE</a:t>
            </a: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6873240" y="2247900"/>
            <a:ext cx="44958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strike="noStrike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Atributos</a:t>
            </a:r>
            <a:endParaRPr b="1" i="0" sz="950" u="none" strike="noStrike">
              <a:solidFill>
                <a:srgbClr val="F34827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F34827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1" i="0" lang="en-US" sz="1100" u="none" strike="noStrike">
                <a:solidFill>
                  <a:srgbClr val="F34827"/>
                </a:solidFill>
                <a:latin typeface="Arial"/>
                <a:ea typeface="Arial"/>
                <a:cs typeface="Arial"/>
                <a:sym typeface="Arial"/>
              </a:rPr>
              <a:t>id </a:t>
            </a:r>
            <a:r>
              <a:rPr b="0" i="0" lang="en-US" sz="950" u="none" strike="noStrike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(PK)</a:t>
            </a:r>
            <a:endParaRPr b="1" i="0" sz="950" u="none" strike="noStrike">
              <a:solidFill>
                <a:srgbClr val="F34827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1" i="0" lang="en-US" sz="1150" u="none" strike="noStrike">
                <a:solidFill>
                  <a:srgbClr val="F34827"/>
                </a:solidFill>
                <a:latin typeface="Arial"/>
                <a:ea typeface="Arial"/>
                <a:cs typeface="Arial"/>
                <a:sym typeface="Arial"/>
              </a:rPr>
              <a:t>•  </a:t>
            </a:r>
            <a:r>
              <a:rPr b="0" i="0" lang="en-US" sz="110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1" i="0" sz="950" u="none" strike="noStrike">
              <a:solidFill>
                <a:srgbClr val="F3482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835140" y="4533900"/>
            <a:ext cx="4572000" cy="800100"/>
          </a:xfrm>
          <a:prstGeom prst="roundRect">
            <a:avLst>
              <a:gd fmla="val 11904" name="adj"/>
            </a:avLst>
          </a:prstGeom>
          <a:solidFill>
            <a:srgbClr val="F8F9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6987540" y="4667250"/>
            <a:ext cx="4267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É usada para preencher o seletor de categorias e agrupar os itens na interface.</a:t>
            </a:r>
            <a:endParaRPr sz="1050">
              <a:solidFill>
                <a:srgbClr val="666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550" y="3133725"/>
            <a:ext cx="11049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8"/>
          <p:cNvSpPr/>
          <p:nvPr/>
        </p:nvSpPr>
        <p:spPr>
          <a:xfrm>
            <a:off x="5572125" y="2952750"/>
            <a:ext cx="1047900" cy="381000"/>
          </a:xfrm>
          <a:prstGeom prst="roundRect">
            <a:avLst>
              <a:gd fmla="val 50000" name="adj"/>
            </a:avLst>
          </a:prstGeom>
          <a:solidFill>
            <a:srgbClr val="7E18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5572125" y="2952750"/>
            <a:ext cx="104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pertence →</a:t>
            </a:r>
            <a:endParaRPr b="1" sz="1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594360" y="304800"/>
            <a:ext cx="7772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IA</a:t>
            </a:r>
            <a:endParaRPr b="1" sz="1100">
              <a:solidFill>
                <a:srgbClr val="F3482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594360" y="590550"/>
            <a:ext cx="10698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Metodologia de Uso da IA</a:t>
            </a:r>
            <a:endParaRPr b="1" sz="2600">
              <a:solidFill>
                <a:srgbClr val="23232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594360" y="1085850"/>
            <a:ext cx="105156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Proposta de processo para apoiar o desenvolvimento com IA — o código enviado não documenta uso de IA.</a:t>
            </a:r>
            <a:endParaRPr b="0" sz="1100">
              <a:solidFill>
                <a:srgbClr val="666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594360" y="1504950"/>
            <a:ext cx="5219700" cy="514500"/>
          </a:xfrm>
          <a:prstGeom prst="roundRect">
            <a:avLst>
              <a:gd fmla="val 29629" name="adj"/>
            </a:avLst>
          </a:prstGeom>
          <a:solidFill>
            <a:srgbClr val="F3E8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594360" y="1828800"/>
            <a:ext cx="5219700" cy="190500"/>
          </a:xfrm>
          <a:prstGeom prst="rect">
            <a:avLst/>
          </a:prstGeom>
          <a:solidFill>
            <a:srgbClr val="F3E8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594360" y="1504950"/>
            <a:ext cx="5219700" cy="33339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822960" y="1600200"/>
            <a:ext cx="47625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rPr>
              <a:t>IA via CLI</a:t>
            </a:r>
            <a:endParaRPr b="1" sz="1500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822960" y="2152650"/>
            <a:ext cx="4762500" cy="10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highlight>
                  <a:srgbClr val="7E1866"/>
                </a:highlight>
                <a:latin typeface="Play"/>
                <a:ea typeface="Play"/>
                <a:cs typeface="Play"/>
                <a:sym typeface="Play"/>
              </a:rPr>
              <a:t>01</a:t>
            </a:r>
            <a:r>
              <a:rPr b="1" i="0" lang="en-US" sz="9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Gerar / ajustar código a partir de prompts técnicos.</a:t>
            </a:r>
            <a:endParaRPr b="1" i="0" sz="900">
              <a:solidFill>
                <a:srgbClr val="23232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highlight>
                  <a:srgbClr val="7E1866"/>
                </a:highlight>
                <a:latin typeface="Play"/>
                <a:ea typeface="Play"/>
                <a:cs typeface="Play"/>
                <a:sym typeface="Play"/>
              </a:rPr>
              <a:t>02</a:t>
            </a:r>
            <a:r>
              <a:rPr b="1" i="0" lang="en-US" sz="9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Executar comandos e testes localmente.</a:t>
            </a:r>
            <a:endParaRPr b="1" i="0" sz="900">
              <a:solidFill>
                <a:srgbClr val="23232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highlight>
                  <a:srgbClr val="7E1866"/>
                </a:highlight>
                <a:latin typeface="Play"/>
                <a:ea typeface="Play"/>
                <a:cs typeface="Play"/>
                <a:sym typeface="Play"/>
              </a:rPr>
              <a:t>03</a:t>
            </a:r>
            <a:r>
              <a:rPr b="1" i="0" lang="en-US" sz="9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Revisar erros e logs com apoio da IA.</a:t>
            </a:r>
            <a:endParaRPr b="1" i="0" sz="900">
              <a:solidFill>
                <a:srgbClr val="23232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900">
                <a:solidFill>
                  <a:srgbClr val="FFFFFF"/>
                </a:solidFill>
                <a:highlight>
                  <a:srgbClr val="7E1866"/>
                </a:highlight>
                <a:latin typeface="Play"/>
                <a:ea typeface="Play"/>
                <a:cs typeface="Play"/>
                <a:sym typeface="Play"/>
              </a:rPr>
              <a:t>04</a:t>
            </a:r>
            <a:r>
              <a:rPr b="1" i="0" lang="en-US" sz="9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Validar alterações antes de integrar ao projeto.</a:t>
            </a:r>
            <a:endParaRPr b="1" i="0" sz="900">
              <a:solidFill>
                <a:srgbClr val="23232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6370320" y="1504950"/>
            <a:ext cx="5219700" cy="514500"/>
          </a:xfrm>
          <a:prstGeom prst="roundRect">
            <a:avLst>
              <a:gd fmla="val 29629" name="adj"/>
            </a:avLst>
          </a:prstGeom>
          <a:solidFill>
            <a:srgbClr val="FDEE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6370320" y="1828800"/>
            <a:ext cx="5219700" cy="190500"/>
          </a:xfrm>
          <a:prstGeom prst="rect">
            <a:avLst/>
          </a:prstGeom>
          <a:solidFill>
            <a:srgbClr val="FDEE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6370320" y="1504950"/>
            <a:ext cx="5219700" cy="33339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6598920" y="1600200"/>
            <a:ext cx="47625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IA Conversacional</a:t>
            </a:r>
            <a:endParaRPr b="1" sz="1500">
              <a:solidFill>
                <a:srgbClr val="F3482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6598920" y="2152650"/>
            <a:ext cx="4762500" cy="10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FFFFFF"/>
                </a:solidFill>
                <a:highlight>
                  <a:srgbClr val="F34827"/>
                </a:highlight>
                <a:latin typeface="Play"/>
                <a:ea typeface="Play"/>
                <a:cs typeface="Play"/>
                <a:sym typeface="Play"/>
              </a:rPr>
              <a:t>01</a:t>
            </a:r>
            <a:r>
              <a:rPr b="1" i="0" lang="en-US" sz="900" u="none" strike="noStrike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Descrever a necessidade em linguagem natural.</a:t>
            </a:r>
            <a:endParaRPr b="1" i="0" sz="900" u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FFFFFF"/>
                </a:solidFill>
                <a:highlight>
                  <a:srgbClr val="F34827"/>
                </a:highlight>
                <a:latin typeface="Play"/>
                <a:ea typeface="Play"/>
                <a:cs typeface="Play"/>
                <a:sym typeface="Play"/>
              </a:rPr>
              <a:t>02</a:t>
            </a:r>
            <a:r>
              <a:rPr b="1" i="0" lang="en-US" sz="900" u="none" strike="noStrike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Pedir decomposição em requisitos e tarefas.</a:t>
            </a:r>
            <a:endParaRPr b="1" i="0" sz="900" u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FFFFFF"/>
                </a:solidFill>
                <a:highlight>
                  <a:srgbClr val="F34827"/>
                </a:highlight>
                <a:latin typeface="Play"/>
                <a:ea typeface="Play"/>
                <a:cs typeface="Play"/>
                <a:sym typeface="Play"/>
              </a:rPr>
              <a:t>03</a:t>
            </a:r>
            <a:r>
              <a:rPr b="1" i="0" lang="en-US" sz="900" u="none" strike="noStrike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Solicitar revisão de arquitetura e regras.</a:t>
            </a:r>
            <a:endParaRPr b="1" i="0" sz="900" u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900" u="none" strike="noStrike">
                <a:solidFill>
                  <a:srgbClr val="FFFFFF"/>
                </a:solidFill>
                <a:highlight>
                  <a:srgbClr val="F34827"/>
                </a:highlight>
                <a:latin typeface="Play"/>
                <a:ea typeface="Play"/>
                <a:cs typeface="Play"/>
                <a:sym typeface="Play"/>
              </a:rPr>
              <a:t>04</a:t>
            </a:r>
            <a:r>
              <a:rPr b="1" i="0" lang="en-US" sz="900" u="none" strike="noStrike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  </a:t>
            </a:r>
            <a:r>
              <a:rPr b="0" i="0" lang="en-US" sz="1050" u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Documentar decisões e critérios de validação.</a:t>
            </a:r>
            <a:endParaRPr b="1" i="0" sz="900" u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284" name="Google Shape;284;p19"/>
          <p:cNvGrpSpPr/>
          <p:nvPr/>
        </p:nvGrpSpPr>
        <p:grpSpPr>
          <a:xfrm>
            <a:off x="594360" y="5067300"/>
            <a:ext cx="10995600" cy="857400"/>
            <a:chOff x="0" y="0"/>
            <a:chExt cx="10995600" cy="857400"/>
          </a:xfrm>
        </p:grpSpPr>
        <p:sp>
          <p:nvSpPr>
            <p:cNvPr id="285" name="Google Shape;285;p19"/>
            <p:cNvSpPr/>
            <p:nvPr/>
          </p:nvSpPr>
          <p:spPr>
            <a:xfrm>
              <a:off x="0" y="0"/>
              <a:ext cx="10995600" cy="857400"/>
            </a:xfrm>
            <a:prstGeom prst="roundRect">
              <a:avLst>
                <a:gd fmla="val 15555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 txBox="1"/>
            <p:nvPr/>
          </p:nvSpPr>
          <p:spPr>
            <a:xfrm>
              <a:off x="190500" y="95250"/>
              <a:ext cx="10614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7E1866"/>
                  </a:solidFill>
                  <a:latin typeface="Play"/>
                  <a:ea typeface="Play"/>
                  <a:cs typeface="Play"/>
                  <a:sym typeface="Play"/>
                </a:rPr>
                <a:t>Fluxo de Interação da Metodologia</a:t>
              </a:r>
              <a:endParaRPr b="1" sz="900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E1866"/>
                  </a:solidFill>
                  <a:highlight>
                    <a:srgbClr val="FFFFFF"/>
                  </a:highlight>
                  <a:latin typeface="Play"/>
                  <a:ea typeface="Play"/>
                  <a:cs typeface="Play"/>
                  <a:sym typeface="Play"/>
                </a:rPr>
                <a:t>Prompt</a:t>
              </a:r>
              <a:r>
                <a:rPr lang="en-US"/>
                <a:t> </a:t>
              </a:r>
              <a:r>
                <a:rPr b="1" lang="en-US" sz="1200">
                  <a:solidFill>
                    <a:srgbClr val="F34827"/>
                  </a:solidFill>
                </a:rPr>
                <a:t>→</a:t>
              </a:r>
              <a:r>
                <a:rPr lang="en-US"/>
                <a:t> </a:t>
              </a:r>
              <a:r>
                <a:rPr b="1" lang="en-US" sz="1000">
                  <a:solidFill>
                    <a:srgbClr val="7E1866"/>
                  </a:solidFill>
                  <a:highlight>
                    <a:srgbClr val="FFFFFF"/>
                  </a:highlight>
                  <a:latin typeface="Play"/>
                  <a:ea typeface="Play"/>
                  <a:cs typeface="Play"/>
                  <a:sym typeface="Play"/>
                </a:rPr>
                <a:t>Geração/Análise</a:t>
              </a:r>
              <a:r>
                <a:rPr lang="en-US"/>
                <a:t> </a:t>
              </a:r>
              <a:r>
                <a:rPr b="1" lang="en-US" sz="1200">
                  <a:solidFill>
                    <a:srgbClr val="F34827"/>
                  </a:solidFill>
                </a:rPr>
                <a:t>→</a:t>
              </a:r>
              <a:r>
                <a:rPr lang="en-US"/>
                <a:t> </a:t>
              </a:r>
              <a:r>
                <a:rPr b="1" lang="en-US" sz="1000">
                  <a:solidFill>
                    <a:srgbClr val="7E1866"/>
                  </a:solidFill>
                  <a:highlight>
                    <a:srgbClr val="FFFFFF"/>
                  </a:highlight>
                  <a:latin typeface="Play"/>
                  <a:ea typeface="Play"/>
                  <a:cs typeface="Play"/>
                  <a:sym typeface="Play"/>
                </a:rPr>
                <a:t>Execução</a:t>
              </a:r>
              <a:r>
                <a:rPr lang="en-US"/>
                <a:t> </a:t>
              </a:r>
              <a:r>
                <a:rPr b="1" lang="en-US" sz="1200">
                  <a:solidFill>
                    <a:srgbClr val="F34827"/>
                  </a:solidFill>
                </a:rPr>
                <a:t>→</a:t>
              </a:r>
              <a:r>
                <a:rPr lang="en-US"/>
                <a:t> </a:t>
              </a:r>
              <a:r>
                <a:rPr b="1" lang="en-US" sz="1000">
                  <a:solidFill>
                    <a:srgbClr val="7E1866"/>
                  </a:solidFill>
                  <a:highlight>
                    <a:srgbClr val="FFFFFF"/>
                  </a:highlight>
                  <a:latin typeface="Play"/>
                  <a:ea typeface="Play"/>
                  <a:cs typeface="Play"/>
                  <a:sym typeface="Play"/>
                </a:rPr>
                <a:t>Validação humana</a:t>
              </a:r>
              <a:r>
                <a:rPr lang="en-US"/>
                <a:t> </a:t>
              </a:r>
              <a:r>
                <a:rPr b="1" lang="en-US" sz="1200">
                  <a:solidFill>
                    <a:srgbClr val="F34827"/>
                  </a:solidFill>
                </a:rPr>
                <a:t>→</a:t>
              </a:r>
              <a:r>
                <a:rPr b="1" lang="en-US" sz="1000">
                  <a:solidFill>
                    <a:srgbClr val="7E1866"/>
                  </a:solidFill>
                  <a:highlight>
                    <a:srgbClr val="FFFFFF"/>
                  </a:highlight>
                  <a:latin typeface="Play"/>
                  <a:ea typeface="Play"/>
                  <a:cs typeface="Play"/>
                  <a:sym typeface="Play"/>
                </a:rPr>
                <a:t> Interação</a:t>
              </a:r>
              <a:endParaRPr/>
            </a:p>
          </p:txBody>
        </p:sp>
      </p:grpSp>
      <p:pic>
        <p:nvPicPr>
          <p:cNvPr descr="57a9ece0-5214-47a4-b4b1-f2573bd470d6.png" id="287" name="Google Shape;2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6768" y="6199632"/>
            <a:ext cx="868680" cy="65151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594360" y="6327648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7E18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609600" y="304800"/>
            <a:ext cx="762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endParaRPr b="1" sz="1100">
              <a:solidFill>
                <a:srgbClr val="F3482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609600" y="552450"/>
            <a:ext cx="10477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32328"/>
                </a:solidFill>
                <a:latin typeface="Play"/>
                <a:ea typeface="Play"/>
                <a:cs typeface="Play"/>
                <a:sym typeface="Play"/>
              </a:rPr>
              <a:t>Protótipo do Projeto</a:t>
            </a:r>
            <a:endParaRPr b="1" sz="2800">
              <a:solidFill>
                <a:srgbClr val="23232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609600" y="104775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666E"/>
                </a:solidFill>
                <a:latin typeface="Arial"/>
                <a:ea typeface="Arial"/>
                <a:cs typeface="Arial"/>
                <a:sym typeface="Arial"/>
              </a:rPr>
              <a:t>Demonstração das telas e fluxos de interação da interface do usuário</a:t>
            </a:r>
            <a:endParaRPr b="0" sz="1200">
              <a:solidFill>
                <a:srgbClr val="666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609600" y="1524000"/>
            <a:ext cx="5105400" cy="4524300"/>
          </a:xfrm>
          <a:prstGeom prst="roundRect">
            <a:avLst>
              <a:gd fmla="val 3368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609600" y="1524000"/>
            <a:ext cx="5105400" cy="495300"/>
          </a:xfrm>
          <a:prstGeom prst="roundRect">
            <a:avLst>
              <a:gd fmla="val 30769" name="adj"/>
            </a:avLst>
          </a:prstGeom>
          <a:solidFill>
            <a:srgbClr val="F3E8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609600" y="1828800"/>
            <a:ext cx="5105400" cy="190500"/>
          </a:xfrm>
          <a:prstGeom prst="rect">
            <a:avLst/>
          </a:prstGeom>
          <a:solidFill>
            <a:srgbClr val="F3E8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838200" y="1638300"/>
            <a:ext cx="464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E1866"/>
                </a:solidFill>
                <a:latin typeface="Play"/>
                <a:ea typeface="Play"/>
                <a:cs typeface="Play"/>
                <a:sym typeface="Play"/>
              </a:rPr>
              <a:t>Estado Inicial (Lista Vazia)</a:t>
            </a:r>
            <a:endParaRPr b="1" sz="1300">
              <a:solidFill>
                <a:srgbClr val="7E1866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02" name="Google Shape;3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2171700"/>
            <a:ext cx="30861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6477000" y="1524000"/>
            <a:ext cx="5105400" cy="4524300"/>
          </a:xfrm>
          <a:prstGeom prst="roundRect">
            <a:avLst>
              <a:gd fmla="val 3368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6477000" y="1524000"/>
            <a:ext cx="5105400" cy="495300"/>
          </a:xfrm>
          <a:prstGeom prst="roundRect">
            <a:avLst>
              <a:gd fmla="val 30769" name="adj"/>
            </a:avLst>
          </a:prstGeom>
          <a:solidFill>
            <a:srgbClr val="FDEE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6477000" y="1828800"/>
            <a:ext cx="5105400" cy="190500"/>
          </a:xfrm>
          <a:prstGeom prst="rect">
            <a:avLst/>
          </a:prstGeom>
          <a:solidFill>
            <a:srgbClr val="FDEE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6705600" y="1638300"/>
            <a:ext cx="464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34827"/>
                </a:solidFill>
                <a:latin typeface="Play"/>
                <a:ea typeface="Play"/>
                <a:cs typeface="Play"/>
                <a:sym typeface="Play"/>
              </a:rPr>
              <a:t>Interface com Itens Cadastrados</a:t>
            </a:r>
            <a:endParaRPr b="1" sz="1300">
              <a:solidFill>
                <a:srgbClr val="F34827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07" name="Google Shape;307;p20"/>
          <p:cNvPicPr preferRelativeResize="0"/>
          <p:nvPr/>
        </p:nvPicPr>
        <p:blipFill rotWithShape="1">
          <a:blip r:embed="rId4">
            <a:alphaModFix/>
          </a:blip>
          <a:srcRect b="0" l="50" r="60" t="0"/>
          <a:stretch/>
        </p:blipFill>
        <p:spPr>
          <a:xfrm>
            <a:off x="7486650" y="2171700"/>
            <a:ext cx="3076500" cy="369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20"/>
          <p:cNvGrpSpPr/>
          <p:nvPr/>
        </p:nvGrpSpPr>
        <p:grpSpPr>
          <a:xfrm>
            <a:off x="5838825" y="3600450"/>
            <a:ext cx="419100" cy="419100"/>
            <a:chOff x="-19050" y="-19050"/>
            <a:chExt cx="419100" cy="419100"/>
          </a:xfrm>
        </p:grpSpPr>
        <p:sp>
          <p:nvSpPr>
            <p:cNvPr id="309" name="Google Shape;309;p20"/>
            <p:cNvSpPr/>
            <p:nvPr/>
          </p:nvSpPr>
          <p:spPr>
            <a:xfrm>
              <a:off x="-19050" y="-19050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133350" y="13335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0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F34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11" name="Google Shape;3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6768" y="6199632"/>
            <a:ext cx="868800" cy="6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 txBox="1"/>
          <p:nvPr/>
        </p:nvSpPr>
        <p:spPr>
          <a:xfrm>
            <a:off x="609600" y="6324600"/>
            <a:ext cx="9144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sz="9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